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7.png"/><Relationship Id="rId10" Type="http://schemas.openxmlformats.org/officeDocument/2006/relationships/image" Target="../media/image-4-7.png"/><Relationship Id="rId11" Type="http://schemas.openxmlformats.org/officeDocument/2006/relationships/image" Target="../media/image-4-7.png"/><Relationship Id="rId12" Type="http://schemas.openxmlformats.org/officeDocument/2006/relationships/image" Target="../media/image-4-7.png"/><Relationship Id="rId13" Type="http://schemas.openxmlformats.org/officeDocument/2006/relationships/image" Target="../media/image-4-7.png"/><Relationship Id="rId14" Type="http://schemas.openxmlformats.org/officeDocument/2006/relationships/image" Target="../media/image-4-7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image" Target="../media/image-6-1.png"/><Relationship Id="rId10" Type="http://schemas.openxmlformats.org/officeDocument/2006/relationships/image" Target="../media/image-6-1.png"/><Relationship Id="rId11" Type="http://schemas.openxmlformats.org/officeDocument/2006/relationships/image" Target="../media/image-6-1.png"/><Relationship Id="rId12" Type="http://schemas.openxmlformats.org/officeDocument/2006/relationships/image" Target="../media/image-6-1.png"/><Relationship Id="rId13" Type="http://schemas.openxmlformats.org/officeDocument/2006/relationships/image" Target="../media/image-6-1.png"/><Relationship Id="rId14" Type="http://schemas.openxmlformats.org/officeDocument/2006/relationships/image" Target="../media/image-6-1.png"/><Relationship Id="rId15" Type="http://schemas.openxmlformats.org/officeDocument/2006/relationships/image" Target="../media/image-6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5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E5F0F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E5F0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FIRST REVIEW  •  2025–2027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14300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STUDENT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49808" y="2880360"/>
            <a:ext cx="502920" cy="54864"/>
          </a:xfrm>
          <a:prstGeom prst="rect">
            <a:avLst/>
          </a:prstGeom>
          <a:solidFill>
            <a:srgbClr val="3D7BB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College-Specific Platform for Structured Student–Alumni Mentorship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6675120" cy="1051560"/>
          </a:xfrm>
          <a:prstGeom prst="roundRect">
            <a:avLst>
              <a:gd name="adj" fmla="val 8696"/>
            </a:avLst>
          </a:prstGeom>
          <a:solidFill>
            <a:srgbClr val="E5F0F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95020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institution-specific web platform that connects current students with alumni for structured mentorship, professional guidance, communication and resource sharing.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51480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Hiran Joy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50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55321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 |  2025–2027  |  FIT25MCA-2030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934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59161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Sujesh P Lal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1600200"/>
            <a:ext cx="1371600" cy="1371600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17" name="Image 0" descr="/home/claude/asm/icons/icon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965960"/>
            <a:ext cx="6400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95360" y="3044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81160" y="2971800"/>
            <a:ext cx="0" cy="1051560"/>
          </a:xfrm>
          <a:prstGeom prst="line">
            <a:avLst/>
          </a:prstGeom>
          <a:noFill/>
          <a:ln w="28575">
            <a:solidFill>
              <a:srgbClr val="1F4E7A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9144000" y="3310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home/claude/asm/icons/icon_chat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0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144000" y="3310128"/>
            <a:ext cx="640080" cy="640080"/>
          </a:xfrm>
          <a:prstGeom prst="ellipse">
            <a:avLst/>
          </a:prstGeom>
          <a:ln w="19050">
            <a:solidFill>
              <a:srgbClr val="3D7BB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95360" y="4251960"/>
            <a:ext cx="1371600" cy="1371600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24" name="Image 2" descr="/home/claude/asm/icons/icon_alum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61772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95360" y="56967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9  —  Project Title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of the Topic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IN OUR COLLEGE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college currently has no dedicated digital platform specifically designed for structured student–alumni mentorship. Students depend 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4505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505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contacts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78024" y="24505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0" name="Text 8"/>
          <p:cNvSpPr/>
          <p:nvPr/>
        </p:nvSpPr>
        <p:spPr>
          <a:xfrm>
            <a:off x="2478024" y="24505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messaging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78808" y="24505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4178808" y="24505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9077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077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references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78024" y="2907792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2478024" y="29077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personal networks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41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" y="4434840"/>
            <a:ext cx="82296" cy="82296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431596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suitable alumni for guidance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63600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alumni mentor discovery system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" y="5074920"/>
            <a:ext cx="82296" cy="82296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495604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mentorship request mechanism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" y="5394960"/>
            <a:ext cx="82296" cy="82296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5276088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student–alumni communication platform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1371600"/>
            <a:ext cx="5285232" cy="2651760"/>
          </a:xfrm>
          <a:prstGeom prst="roundRect">
            <a:avLst>
              <a:gd name="adj" fmla="val 2759"/>
            </a:avLst>
          </a:prstGeom>
          <a:solidFill>
            <a:srgbClr val="1F4E7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536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centralized platform that allows students to easily discover and connect with experienced alumni.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CAN SUPPORT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0" y="2834640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32" name="Text 30"/>
          <p:cNvSpPr/>
          <p:nvPr/>
        </p:nvSpPr>
        <p:spPr>
          <a:xfrm>
            <a:off x="6638544" y="2834640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66176" y="2834640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2834640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prep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48672" y="2834640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36" name="Text 34"/>
          <p:cNvSpPr/>
          <p:nvPr/>
        </p:nvSpPr>
        <p:spPr>
          <a:xfrm>
            <a:off x="10003536" y="2834640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guidance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0" y="3456432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38" name="Text 36"/>
          <p:cNvSpPr/>
          <p:nvPr/>
        </p:nvSpPr>
        <p:spPr>
          <a:xfrm>
            <a:off x="6638544" y="3456432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exposure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66176" y="3456432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40" name="Text 38"/>
          <p:cNvSpPr/>
          <p:nvPr/>
        </p:nvSpPr>
        <p:spPr>
          <a:xfrm>
            <a:off x="8321040" y="3456432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Higher-study guidance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48672" y="3456432"/>
            <a:ext cx="1563624" cy="530352"/>
          </a:xfrm>
          <a:prstGeom prst="roundRect">
            <a:avLst>
              <a:gd name="adj" fmla="val 12069"/>
            </a:avLst>
          </a:prstGeom>
          <a:solidFill>
            <a:srgbClr val="2E6690"/>
          </a:solidFill>
          <a:ln/>
        </p:spPr>
      </p:sp>
      <p:sp>
        <p:nvSpPr>
          <p:cNvPr id="42" name="Text 40"/>
          <p:cNvSpPr/>
          <p:nvPr/>
        </p:nvSpPr>
        <p:spPr>
          <a:xfrm>
            <a:off x="10003536" y="3456432"/>
            <a:ext cx="1453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4251960"/>
            <a:ext cx="52852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389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RELEVANCE, IN ONE FLOW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29400" y="4846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5F0F8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48463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dirty="0"/>
          </a:p>
        </p:txBody>
      </p:sp>
      <p:pic>
        <p:nvPicPr>
          <p:cNvPr id="47" name="Image 0" descr="/home/claude/asm/icons/icon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296" y="5120640"/>
            <a:ext cx="219456" cy="219456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8339328" y="4846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E5F0F8"/>
          </a:solidFill>
          <a:ln/>
        </p:spPr>
      </p:sp>
      <p:sp>
        <p:nvSpPr>
          <p:cNvPr id="49" name="Text 46"/>
          <p:cNvSpPr/>
          <p:nvPr/>
        </p:nvSpPr>
        <p:spPr>
          <a:xfrm>
            <a:off x="8339328" y="48463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pic>
        <p:nvPicPr>
          <p:cNvPr id="50" name="Image 1" descr="/home/claude/asm/icons/icon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5120640"/>
            <a:ext cx="219456" cy="219456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10049256" y="484632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B5C94"/>
          </a:solidFill>
          <a:ln/>
        </p:spPr>
      </p:sp>
      <p:sp>
        <p:nvSpPr>
          <p:cNvPr id="52" name="Text 48"/>
          <p:cNvSpPr/>
          <p:nvPr/>
        </p:nvSpPr>
        <p:spPr>
          <a:xfrm>
            <a:off x="10049256" y="48463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9  —  Relevance of the Topic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developed specifically for our college to facilitate structured student–alumni mentorship.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452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3D7BB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3774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3774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pic>
        <p:nvPicPr>
          <p:cNvPr id="11" name="Image 0" descr="/home/claude/asm/icons/icon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2542032"/>
            <a:ext cx="128016" cy="12801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64992" y="23774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3364992" y="23774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950" dirty="0"/>
          </a:p>
        </p:txBody>
      </p:sp>
      <p:pic>
        <p:nvPicPr>
          <p:cNvPr id="14" name="Image 1" descr="/home/claude/asm/icons/icon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42032"/>
            <a:ext cx="128016" cy="1280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55464" y="23774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16" name="Text 12"/>
          <p:cNvSpPr/>
          <p:nvPr/>
        </p:nvSpPr>
        <p:spPr>
          <a:xfrm>
            <a:off x="4855464" y="23774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pic>
        <p:nvPicPr>
          <p:cNvPr id="17" name="Image 2" descr="/home/claude/asm/icons/icon_arrow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542032"/>
            <a:ext cx="128016" cy="12801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45936" y="23774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19" name="Text 14"/>
          <p:cNvSpPr/>
          <p:nvPr/>
        </p:nvSpPr>
        <p:spPr>
          <a:xfrm>
            <a:off x="6345936" y="23774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77240" y="306324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B5C94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87452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23" name="Text 18"/>
          <p:cNvSpPr/>
          <p:nvPr/>
        </p:nvSpPr>
        <p:spPr>
          <a:xfrm>
            <a:off x="1874520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pic>
        <p:nvPicPr>
          <p:cNvPr id="24" name="Image 3" descr="/home/claude/asm/icons/icon_arrow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227832"/>
            <a:ext cx="128016" cy="12801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364992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E5F0F8"/>
          </a:solidFill>
          <a:ln/>
        </p:spPr>
      </p:sp>
      <p:sp>
        <p:nvSpPr>
          <p:cNvPr id="26" name="Text 20"/>
          <p:cNvSpPr/>
          <p:nvPr/>
        </p:nvSpPr>
        <p:spPr>
          <a:xfrm>
            <a:off x="3364992" y="30632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1234440" y="3657600"/>
            <a:ext cx="0" cy="256032"/>
          </a:xfrm>
          <a:prstGeom prst="line">
            <a:avLst/>
          </a:prstGeom>
          <a:noFill/>
          <a:ln w="19050">
            <a:solidFill>
              <a:srgbClr val="7B93A8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777240" y="3913632"/>
            <a:ext cx="6949440" cy="384048"/>
          </a:xfrm>
          <a:prstGeom prst="roundRect">
            <a:avLst>
              <a:gd name="adj" fmla="val 14286"/>
            </a:avLst>
          </a:prstGeom>
          <a:solidFill>
            <a:srgbClr val="E5F0F8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" y="39136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accepted → Mentorship Relationship → Chatbox → Resource Sharing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4224528"/>
            <a:ext cx="7452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" y="43525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77240" y="4718304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33" name="Text 27"/>
          <p:cNvSpPr/>
          <p:nvPr/>
        </p:nvSpPr>
        <p:spPr>
          <a:xfrm>
            <a:off x="941832" y="46085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student–alumni mentorship platform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977640" y="4718304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35" name="Text 29"/>
          <p:cNvSpPr/>
          <p:nvPr/>
        </p:nvSpPr>
        <p:spPr>
          <a:xfrm>
            <a:off x="4142232" y="46085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discover suitable alumni mentors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77240" y="5102352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37" name="Text 31"/>
          <p:cNvSpPr/>
          <p:nvPr/>
        </p:nvSpPr>
        <p:spPr>
          <a:xfrm>
            <a:off x="941832" y="49926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structured mentorship requests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977640" y="5102352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39" name="Text 33"/>
          <p:cNvSpPr/>
          <p:nvPr/>
        </p:nvSpPr>
        <p:spPr>
          <a:xfrm>
            <a:off x="4142232" y="49926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alumni to accept or reject requests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777240" y="5486400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41" name="Text 35"/>
          <p:cNvSpPr/>
          <p:nvPr/>
        </p:nvSpPr>
        <p:spPr>
          <a:xfrm>
            <a:off x="941832" y="5376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communication via integrated chatbox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3977640" y="5486400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43" name="Text 37"/>
          <p:cNvSpPr/>
          <p:nvPr/>
        </p:nvSpPr>
        <p:spPr>
          <a:xfrm>
            <a:off x="4142232" y="5376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alumni profiles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777240" y="5870448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45" name="Text 39"/>
          <p:cNvSpPr/>
          <p:nvPr/>
        </p:nvSpPr>
        <p:spPr>
          <a:xfrm>
            <a:off x="941832" y="5760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resource sharing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3977640" y="5870448"/>
            <a:ext cx="73152" cy="73152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47" name="Text 41"/>
          <p:cNvSpPr/>
          <p:nvPr/>
        </p:nvSpPr>
        <p:spPr>
          <a:xfrm>
            <a:off x="4142232" y="5760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functionality for Admin, Student, Alumni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8229600" y="1298448"/>
            <a:ext cx="3410712" cy="2194560"/>
          </a:xfrm>
          <a:prstGeom prst="roundRect">
            <a:avLst>
              <a:gd name="adj" fmla="val 3333"/>
            </a:avLst>
          </a:prstGeom>
          <a:solidFill>
            <a:srgbClr val="1F4E7A"/>
          </a:solidFill>
          <a:ln/>
        </p:spPr>
      </p:sp>
      <p:sp>
        <p:nvSpPr>
          <p:cNvPr id="49" name="Text 43"/>
          <p:cNvSpPr/>
          <p:nvPr/>
        </p:nvSpPr>
        <p:spPr>
          <a:xfrm>
            <a:off x="8458200" y="1444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8458200" y="1737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covers three coordinated modules: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8458200" y="228600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2E6690"/>
          </a:solidFill>
          <a:ln/>
        </p:spPr>
      </p:sp>
      <p:sp>
        <p:nvSpPr>
          <p:cNvPr id="52" name="Text 46"/>
          <p:cNvSpPr/>
          <p:nvPr/>
        </p:nvSpPr>
        <p:spPr>
          <a:xfrm>
            <a:off x="84582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53" name="Shape 47"/>
          <p:cNvSpPr/>
          <p:nvPr/>
        </p:nvSpPr>
        <p:spPr>
          <a:xfrm>
            <a:off x="8458200" y="2724912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2E6690"/>
          </a:solidFill>
          <a:ln/>
        </p:spPr>
      </p:sp>
      <p:sp>
        <p:nvSpPr>
          <p:cNvPr id="54" name="Text 48"/>
          <p:cNvSpPr/>
          <p:nvPr/>
        </p:nvSpPr>
        <p:spPr>
          <a:xfrm>
            <a:off x="8458200" y="27249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55" name="Shape 49"/>
          <p:cNvSpPr/>
          <p:nvPr/>
        </p:nvSpPr>
        <p:spPr>
          <a:xfrm>
            <a:off x="8458200" y="3163824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2E6690"/>
          </a:solidFill>
          <a:ln/>
        </p:spPr>
      </p:sp>
      <p:sp>
        <p:nvSpPr>
          <p:cNvPr id="56" name="Text 50"/>
          <p:cNvSpPr/>
          <p:nvPr/>
        </p:nvSpPr>
        <p:spPr>
          <a:xfrm>
            <a:off x="8458200" y="31638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8229600" y="3611880"/>
            <a:ext cx="3410712" cy="2624328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845820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59" name="Shape 53"/>
          <p:cNvSpPr/>
          <p:nvPr/>
        </p:nvSpPr>
        <p:spPr>
          <a:xfrm>
            <a:off x="8458200" y="4096512"/>
            <a:ext cx="566928" cy="566928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60" name="Image 4" descr="/home/claude/asm/icons/icon_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233672"/>
            <a:ext cx="292608" cy="292608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8458200" y="4773168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functional, college-specific platform that makes student–alumni interaction more organized, accessible and useful.</a:t>
            </a:r>
            <a:endParaRPr lang="en-US" sz="1200" dirty="0"/>
          </a:p>
        </p:txBody>
      </p:sp>
      <p:sp>
        <p:nvSpPr>
          <p:cNvPr id="62" name="Text 5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9  —  Project Description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39312" cy="475488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GLOBAL PLATFORMS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84248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E5F0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441448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E5F0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41448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PeopleGrove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3182112" cy="384048"/>
          </a:xfrm>
          <a:prstGeom prst="roundRect">
            <a:avLst>
              <a:gd name="adj" fmla="val 14286"/>
            </a:avLst>
          </a:prstGeom>
          <a:solidFill>
            <a:srgbClr val="E5F0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digital mentoring / alumni-engagement platforms providing: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400507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953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discovery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" y="430225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925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engagement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459943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489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programs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" y="489661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868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Mentor–mentee connections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519379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084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" y="5490972"/>
            <a:ext cx="64008" cy="64008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812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1417320"/>
            <a:ext cx="3639312" cy="4754880"/>
          </a:xfrm>
          <a:prstGeom prst="roundRect">
            <a:avLst>
              <a:gd name="adj" fmla="val 2010"/>
            </a:avLst>
          </a:prstGeom>
          <a:solidFill>
            <a:srgbClr val="E5F0F8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— OUR COLLEGE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platform for structured student–alumni mentorship.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9432" y="2496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today relies on informal communication and personal networks.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99432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99432" y="3355848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31" name="Image 0" descr="/home/claude/asm/icons/icon_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08" y="3392424"/>
            <a:ext cx="128016" cy="12801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882896" y="329184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mentor discovery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99432" y="3703320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34" name="Image 1" descr="/home/claude/asm/icons/icon_x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3739896"/>
            <a:ext cx="128016" cy="12801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882896" y="363931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mentorship requests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99432" y="4050792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37" name="Image 2" descr="/home/claude/asm/icons/icon_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4087368"/>
            <a:ext cx="128016" cy="12801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882896" y="398678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status tracking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599432" y="4398264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40" name="Image 3" descr="/home/claude/asm/icons/icon_x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4434840"/>
            <a:ext cx="128016" cy="12801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882896" y="433425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communication platform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599432" y="4745736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43" name="Image 4" descr="/home/claude/asm/icons/icon_x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782312"/>
            <a:ext cx="128016" cy="12801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882896" y="468172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college-specific workflow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599432" y="5093208"/>
            <a:ext cx="201168" cy="20116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46" name="Image 5" descr="/home/claude/asm/icons/icon_x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5129784"/>
            <a:ext cx="128016" cy="12801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4882896" y="502920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accessing alumni guidance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8193024" y="1417320"/>
            <a:ext cx="3639312" cy="4754880"/>
          </a:xfrm>
          <a:prstGeom prst="roundRect">
            <a:avLst>
              <a:gd name="adj" fmla="val 2010"/>
            </a:avLst>
          </a:prstGeom>
          <a:solidFill>
            <a:srgbClr val="1F4E7A"/>
          </a:solidFill>
          <a:ln/>
        </p:spPr>
      </p:sp>
      <p:sp>
        <p:nvSpPr>
          <p:cNvPr id="49" name="Text 41"/>
          <p:cNvSpPr/>
          <p:nvPr/>
        </p:nvSpPr>
        <p:spPr>
          <a:xfrm>
            <a:off x="8421624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SYSTEM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8421624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customized, college-specific student–alumni mentorship platform.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8421624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8421624" y="29626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53" name="Image 6" descr="/home/claude/asm/icons/icon_che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2999232"/>
            <a:ext cx="109728" cy="10972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8695944" y="28986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alumni profiles</a:t>
            </a:r>
            <a:endParaRPr lang="en-US" sz="1030" dirty="0"/>
          </a:p>
        </p:txBody>
      </p:sp>
      <p:sp>
        <p:nvSpPr>
          <p:cNvPr id="55" name="Shape 46"/>
          <p:cNvSpPr/>
          <p:nvPr/>
        </p:nvSpPr>
        <p:spPr>
          <a:xfrm>
            <a:off x="8421624" y="33055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56" name="Image 7" descr="/home/claude/asm/icons/icon_check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342132"/>
            <a:ext cx="109728" cy="109728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8695944" y="32415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search and discovery</a:t>
            </a:r>
            <a:endParaRPr lang="en-US" sz="1030" dirty="0"/>
          </a:p>
        </p:txBody>
      </p:sp>
      <p:sp>
        <p:nvSpPr>
          <p:cNvPr id="58" name="Shape 48"/>
          <p:cNvSpPr/>
          <p:nvPr/>
        </p:nvSpPr>
        <p:spPr>
          <a:xfrm>
            <a:off x="8421624" y="36484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59" name="Image 8" descr="/home/claude/asm/icons/icon_che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3685032"/>
            <a:ext cx="109728" cy="10972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8695944" y="35844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requests</a:t>
            </a:r>
            <a:endParaRPr lang="en-US" sz="1030" dirty="0"/>
          </a:p>
        </p:txBody>
      </p:sp>
      <p:sp>
        <p:nvSpPr>
          <p:cNvPr id="61" name="Shape 50"/>
          <p:cNvSpPr/>
          <p:nvPr/>
        </p:nvSpPr>
        <p:spPr>
          <a:xfrm>
            <a:off x="8421624" y="39913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62" name="Image 9" descr="/home/claude/asm/icons/icon_check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4027932"/>
            <a:ext cx="109728" cy="109728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8695944" y="39273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functionality</a:t>
            </a:r>
            <a:endParaRPr lang="en-US" sz="1030" dirty="0"/>
          </a:p>
        </p:txBody>
      </p:sp>
      <p:sp>
        <p:nvSpPr>
          <p:cNvPr id="64" name="Shape 52"/>
          <p:cNvSpPr/>
          <p:nvPr/>
        </p:nvSpPr>
        <p:spPr>
          <a:xfrm>
            <a:off x="8421624" y="43342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65" name="Image 10" descr="/home/claude/asm/icons/icon_check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4370832"/>
            <a:ext cx="109728" cy="10972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8695944" y="42702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mentorship chatbox</a:t>
            </a:r>
            <a:endParaRPr lang="en-US" sz="1030" dirty="0"/>
          </a:p>
        </p:txBody>
      </p:sp>
      <p:sp>
        <p:nvSpPr>
          <p:cNvPr id="67" name="Shape 54"/>
          <p:cNvSpPr/>
          <p:nvPr/>
        </p:nvSpPr>
        <p:spPr>
          <a:xfrm>
            <a:off x="8421624" y="46771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68" name="Image 11" descr="/home/claude/asm/icons/icon_check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4713732"/>
            <a:ext cx="109728" cy="109728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8695944" y="46131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alumni profiles</a:t>
            </a:r>
            <a:endParaRPr lang="en-US" sz="1030" dirty="0"/>
          </a:p>
        </p:txBody>
      </p:sp>
      <p:sp>
        <p:nvSpPr>
          <p:cNvPr id="70" name="Shape 56"/>
          <p:cNvSpPr/>
          <p:nvPr/>
        </p:nvSpPr>
        <p:spPr>
          <a:xfrm>
            <a:off x="8421624" y="50200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71" name="Image 12" descr="/home/claude/asm/icons/icon_check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5056632"/>
            <a:ext cx="109728" cy="109728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8695944" y="49560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resource sharing</a:t>
            </a:r>
            <a:endParaRPr lang="en-US" sz="1030" dirty="0"/>
          </a:p>
        </p:txBody>
      </p:sp>
      <p:sp>
        <p:nvSpPr>
          <p:cNvPr id="73" name="Shape 58"/>
          <p:cNvSpPr/>
          <p:nvPr/>
        </p:nvSpPr>
        <p:spPr>
          <a:xfrm>
            <a:off x="8421624" y="5362956"/>
            <a:ext cx="182880" cy="182880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74" name="Image 13" descr="/home/claude/asm/icons/icon_check_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8200" y="5399532"/>
            <a:ext cx="109728" cy="109728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8695944" y="52989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mentorship information</a:t>
            </a:r>
            <a:endParaRPr lang="en-US" sz="1030" dirty="0"/>
          </a:p>
        </p:txBody>
      </p:sp>
      <p:sp>
        <p:nvSpPr>
          <p:cNvPr id="76" name="Text 6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9  —  Existing System vs. Proposed System</a:t>
            </a:r>
            <a:endParaRPr lang="en-US" sz="900" dirty="0"/>
          </a:p>
        </p:txBody>
      </p:sp>
      <p:sp>
        <p:nvSpPr>
          <p:cNvPr id="77" name="Text 61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/ Outputs / Modules / Tasks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54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3D7BB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544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68096" y="208483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7510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profile details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2354580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485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interests, expertise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" y="2624328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1460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search criteria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2894076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84348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3163824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54096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" y="343357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2384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actions</a:t>
            </a:r>
            <a:endParaRPr lang="en-US" sz="1000" dirty="0"/>
          </a:p>
        </p:txBody>
      </p:sp>
      <p:pic>
        <p:nvPicPr>
          <p:cNvPr id="19" name="Image 0" descr="/home/claude/asm/icons/icon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446020"/>
            <a:ext cx="182880" cy="1828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078224" y="13716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79392" y="1554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B5C94"/>
          </a:solidFill>
          <a:ln/>
        </p:spPr>
      </p:sp>
      <p:sp>
        <p:nvSpPr>
          <p:cNvPr id="22" name="Text 19"/>
          <p:cNvSpPr/>
          <p:nvPr/>
        </p:nvSpPr>
        <p:spPr>
          <a:xfrm>
            <a:off x="4279392" y="15544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TASKS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97680" y="208483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4" name="Text 21"/>
          <p:cNvSpPr/>
          <p:nvPr/>
        </p:nvSpPr>
        <p:spPr>
          <a:xfrm>
            <a:off x="4443984" y="197510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role ID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97680" y="2354580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6" name="Text 23"/>
          <p:cNvSpPr/>
          <p:nvPr/>
        </p:nvSpPr>
        <p:spPr>
          <a:xfrm>
            <a:off x="4443984" y="224485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2624328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28" name="Text 25"/>
          <p:cNvSpPr/>
          <p:nvPr/>
        </p:nvSpPr>
        <p:spPr>
          <a:xfrm>
            <a:off x="4443984" y="251460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search &amp; viewing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297680" y="2894076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30" name="Text 27"/>
          <p:cNvSpPr/>
          <p:nvPr/>
        </p:nvSpPr>
        <p:spPr>
          <a:xfrm>
            <a:off x="4443984" y="2784348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creation &amp; status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97680" y="3163824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32" name="Text 29"/>
          <p:cNvSpPr/>
          <p:nvPr/>
        </p:nvSpPr>
        <p:spPr>
          <a:xfrm>
            <a:off x="4443984" y="3054096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verification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97680" y="343357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34" name="Text 31"/>
          <p:cNvSpPr/>
          <p:nvPr/>
        </p:nvSpPr>
        <p:spPr>
          <a:xfrm>
            <a:off x="4443984" y="332384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resource sharing</a:t>
            </a:r>
            <a:endParaRPr lang="en-US" sz="1000" dirty="0"/>
          </a:p>
        </p:txBody>
      </p:sp>
      <p:pic>
        <p:nvPicPr>
          <p:cNvPr id="35" name="Image 1" descr="/home/claude/asm/icons/icon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2446020"/>
            <a:ext cx="182880" cy="18288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7607808" y="13716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808976" y="1554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3D7BB0"/>
          </a:solidFill>
          <a:ln/>
        </p:spPr>
      </p:sp>
      <p:sp>
        <p:nvSpPr>
          <p:cNvPr id="38" name="Text 34"/>
          <p:cNvSpPr/>
          <p:nvPr/>
        </p:nvSpPr>
        <p:spPr>
          <a:xfrm>
            <a:off x="7808976" y="15544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7827264" y="208483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40" name="Text 36"/>
          <p:cNvSpPr/>
          <p:nvPr/>
        </p:nvSpPr>
        <p:spPr>
          <a:xfrm>
            <a:off x="7973568" y="197510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Alumni profiles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827264" y="2354580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42" name="Text 38"/>
          <p:cNvSpPr/>
          <p:nvPr/>
        </p:nvSpPr>
        <p:spPr>
          <a:xfrm>
            <a:off x="7973568" y="2244852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alumni profiles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7827264" y="2624328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44" name="Text 40"/>
          <p:cNvSpPr/>
          <p:nvPr/>
        </p:nvSpPr>
        <p:spPr>
          <a:xfrm>
            <a:off x="7973568" y="251460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requests &amp; status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827264" y="2894076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46" name="Text 42"/>
          <p:cNvSpPr/>
          <p:nvPr/>
        </p:nvSpPr>
        <p:spPr>
          <a:xfrm>
            <a:off x="7973568" y="2784348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Mentor–mentee connections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827264" y="3163824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48" name="Text 44"/>
          <p:cNvSpPr/>
          <p:nvPr/>
        </p:nvSpPr>
        <p:spPr>
          <a:xfrm>
            <a:off x="7973568" y="3054096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communication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7827264" y="3433572"/>
            <a:ext cx="54864" cy="54864"/>
          </a:xfrm>
          <a:prstGeom prst="ellipse">
            <a:avLst/>
          </a:prstGeom>
          <a:solidFill>
            <a:srgbClr val="7B93A8"/>
          </a:solidFill>
          <a:ln/>
        </p:spPr>
      </p:sp>
      <p:sp>
        <p:nvSpPr>
          <p:cNvPr id="50" name="Text 46"/>
          <p:cNvSpPr/>
          <p:nvPr/>
        </p:nvSpPr>
        <p:spPr>
          <a:xfrm>
            <a:off x="7973568" y="332384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4864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THREE-MODULE STRUCTURE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548640" y="4251960"/>
            <a:ext cx="33101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49808" y="4507992"/>
            <a:ext cx="566928" cy="566928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54" name="Image 2" descr="/home/claude/asm/icons/icon_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292608" cy="29260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1444752" y="4526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56" name="Shape 51"/>
          <p:cNvSpPr/>
          <p:nvPr/>
        </p:nvSpPr>
        <p:spPr>
          <a:xfrm>
            <a:off x="749808" y="530352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57" name="Text 52"/>
          <p:cNvSpPr/>
          <p:nvPr/>
        </p:nvSpPr>
        <p:spPr>
          <a:xfrm>
            <a:off x="749808" y="5303520"/>
            <a:ext cx="932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30" dirty="0"/>
          </a:p>
        </p:txBody>
      </p:sp>
      <p:sp>
        <p:nvSpPr>
          <p:cNvPr id="58" name="Shape 53"/>
          <p:cNvSpPr/>
          <p:nvPr/>
        </p:nvSpPr>
        <p:spPr>
          <a:xfrm>
            <a:off x="1737360" y="530352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59" name="Text 54"/>
          <p:cNvSpPr/>
          <p:nvPr/>
        </p:nvSpPr>
        <p:spPr>
          <a:xfrm>
            <a:off x="1737360" y="5303520"/>
            <a:ext cx="932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830" dirty="0"/>
          </a:p>
        </p:txBody>
      </p:sp>
      <p:sp>
        <p:nvSpPr>
          <p:cNvPr id="60" name="Shape 55"/>
          <p:cNvSpPr/>
          <p:nvPr/>
        </p:nvSpPr>
        <p:spPr>
          <a:xfrm>
            <a:off x="2724912" y="530352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61" name="Text 56"/>
          <p:cNvSpPr/>
          <p:nvPr/>
        </p:nvSpPr>
        <p:spPr>
          <a:xfrm>
            <a:off x="2724912" y="5303520"/>
            <a:ext cx="932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30" dirty="0"/>
          </a:p>
        </p:txBody>
      </p:sp>
      <p:sp>
        <p:nvSpPr>
          <p:cNvPr id="62" name="Shape 57"/>
          <p:cNvSpPr/>
          <p:nvPr/>
        </p:nvSpPr>
        <p:spPr>
          <a:xfrm>
            <a:off x="4078224" y="4251960"/>
            <a:ext cx="33101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4279392" y="4507992"/>
            <a:ext cx="566928" cy="566928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64" name="Image 3" descr="/home/claude/asm/icons/icon_stud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4645152"/>
            <a:ext cx="292608" cy="292608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4974336" y="4526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66" name="Shape 60"/>
          <p:cNvSpPr/>
          <p:nvPr/>
        </p:nvSpPr>
        <p:spPr>
          <a:xfrm>
            <a:off x="4279392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67" name="Text 61"/>
          <p:cNvSpPr/>
          <p:nvPr/>
        </p:nvSpPr>
        <p:spPr>
          <a:xfrm>
            <a:off x="4279392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30" dirty="0"/>
          </a:p>
        </p:txBody>
      </p:sp>
      <p:sp>
        <p:nvSpPr>
          <p:cNvPr id="68" name="Shape 62"/>
          <p:cNvSpPr/>
          <p:nvPr/>
        </p:nvSpPr>
        <p:spPr>
          <a:xfrm>
            <a:off x="5020056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69" name="Text 63"/>
          <p:cNvSpPr/>
          <p:nvPr/>
        </p:nvSpPr>
        <p:spPr>
          <a:xfrm>
            <a:off x="5020056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830" dirty="0"/>
          </a:p>
        </p:txBody>
      </p:sp>
      <p:sp>
        <p:nvSpPr>
          <p:cNvPr id="70" name="Shape 64"/>
          <p:cNvSpPr/>
          <p:nvPr/>
        </p:nvSpPr>
        <p:spPr>
          <a:xfrm>
            <a:off x="5760720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71" name="Text 65"/>
          <p:cNvSpPr/>
          <p:nvPr/>
        </p:nvSpPr>
        <p:spPr>
          <a:xfrm>
            <a:off x="5760720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30" dirty="0"/>
          </a:p>
        </p:txBody>
      </p:sp>
      <p:sp>
        <p:nvSpPr>
          <p:cNvPr id="72" name="Shape 66"/>
          <p:cNvSpPr/>
          <p:nvPr/>
        </p:nvSpPr>
        <p:spPr>
          <a:xfrm>
            <a:off x="6501384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73" name="Text 67"/>
          <p:cNvSpPr/>
          <p:nvPr/>
        </p:nvSpPr>
        <p:spPr>
          <a:xfrm>
            <a:off x="6501384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30" dirty="0"/>
          </a:p>
        </p:txBody>
      </p:sp>
      <p:sp>
        <p:nvSpPr>
          <p:cNvPr id="74" name="Shape 68"/>
          <p:cNvSpPr/>
          <p:nvPr/>
        </p:nvSpPr>
        <p:spPr>
          <a:xfrm>
            <a:off x="7607808" y="4251960"/>
            <a:ext cx="331012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7808976" y="4507992"/>
            <a:ext cx="566928" cy="566928"/>
          </a:xfrm>
          <a:prstGeom prst="ellipse">
            <a:avLst/>
          </a:prstGeom>
          <a:solidFill>
            <a:srgbClr val="1F4E7A"/>
          </a:solidFill>
          <a:ln/>
        </p:spPr>
      </p:sp>
      <p:pic>
        <p:nvPicPr>
          <p:cNvPr id="76" name="Image 4" descr="/home/claude/asm/icons/icon_alumn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4645152"/>
            <a:ext cx="292608" cy="292608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8503920" y="45262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</a:t>
            </a:r>
            <a:endParaRPr lang="en-US" sz="1300" dirty="0"/>
          </a:p>
        </p:txBody>
      </p:sp>
      <p:sp>
        <p:nvSpPr>
          <p:cNvPr id="78" name="Shape 71"/>
          <p:cNvSpPr/>
          <p:nvPr/>
        </p:nvSpPr>
        <p:spPr>
          <a:xfrm>
            <a:off x="7808976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79" name="Text 72"/>
          <p:cNvSpPr/>
          <p:nvPr/>
        </p:nvSpPr>
        <p:spPr>
          <a:xfrm>
            <a:off x="7808976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30" dirty="0"/>
          </a:p>
        </p:txBody>
      </p:sp>
      <p:sp>
        <p:nvSpPr>
          <p:cNvPr id="80" name="Shape 73"/>
          <p:cNvSpPr/>
          <p:nvPr/>
        </p:nvSpPr>
        <p:spPr>
          <a:xfrm>
            <a:off x="8549640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81" name="Text 74"/>
          <p:cNvSpPr/>
          <p:nvPr/>
        </p:nvSpPr>
        <p:spPr>
          <a:xfrm>
            <a:off x="8549640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30" dirty="0"/>
          </a:p>
        </p:txBody>
      </p:sp>
      <p:sp>
        <p:nvSpPr>
          <p:cNvPr id="82" name="Shape 75"/>
          <p:cNvSpPr/>
          <p:nvPr/>
        </p:nvSpPr>
        <p:spPr>
          <a:xfrm>
            <a:off x="9290304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83" name="Text 76"/>
          <p:cNvSpPr/>
          <p:nvPr/>
        </p:nvSpPr>
        <p:spPr>
          <a:xfrm>
            <a:off x="9290304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30" dirty="0"/>
          </a:p>
        </p:txBody>
      </p:sp>
      <p:sp>
        <p:nvSpPr>
          <p:cNvPr id="84" name="Shape 77"/>
          <p:cNvSpPr/>
          <p:nvPr/>
        </p:nvSpPr>
        <p:spPr>
          <a:xfrm>
            <a:off x="10030968" y="5303520"/>
            <a:ext cx="685800" cy="566928"/>
          </a:xfrm>
          <a:prstGeom prst="roundRect">
            <a:avLst>
              <a:gd name="adj" fmla="val 9677"/>
            </a:avLst>
          </a:prstGeom>
          <a:solidFill>
            <a:srgbClr val="E5F0F8"/>
          </a:solidFill>
          <a:ln/>
        </p:spPr>
      </p:sp>
      <p:sp>
        <p:nvSpPr>
          <p:cNvPr id="85" name="Text 78"/>
          <p:cNvSpPr/>
          <p:nvPr/>
        </p:nvSpPr>
        <p:spPr>
          <a:xfrm>
            <a:off x="10030968" y="530352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30" dirty="0"/>
          </a:p>
        </p:txBody>
      </p:sp>
      <p:sp>
        <p:nvSpPr>
          <p:cNvPr id="86" name="Text 7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9  —  Inputs / Outputs / Modules / Tasks</a:t>
            </a:r>
            <a:endParaRPr lang="en-US" sz="900" dirty="0"/>
          </a:p>
        </p:txBody>
      </p:sp>
      <p:sp>
        <p:nvSpPr>
          <p:cNvPr id="87" name="Text 80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System Design /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30" dirty="0"/>
          </a:p>
        </p:txBody>
      </p:sp>
      <p:pic>
        <p:nvPicPr>
          <p:cNvPr id="8" name="Image 0" descr="/home/claude/asm/icons/icon_arr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883664"/>
            <a:ext cx="100584" cy="1280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72284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0" name="Text 7"/>
          <p:cNvSpPr/>
          <p:nvPr/>
        </p:nvSpPr>
        <p:spPr>
          <a:xfrm>
            <a:off x="2272284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30" dirty="0"/>
          </a:p>
        </p:txBody>
      </p:sp>
      <p:pic>
        <p:nvPicPr>
          <p:cNvPr id="11" name="Image 1" descr="/home/claude/asm/icons/icon_arrow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883664"/>
            <a:ext cx="100584" cy="1280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94760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3" name="Text 9"/>
          <p:cNvSpPr/>
          <p:nvPr/>
        </p:nvSpPr>
        <p:spPr>
          <a:xfrm>
            <a:off x="3794760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30" dirty="0"/>
          </a:p>
        </p:txBody>
      </p:sp>
      <p:pic>
        <p:nvPicPr>
          <p:cNvPr id="14" name="Image 2" descr="/home/claude/asm/icons/icon_arrow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08" y="1883664"/>
            <a:ext cx="100584" cy="1280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317236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6" name="Text 11"/>
          <p:cNvSpPr/>
          <p:nvPr/>
        </p:nvSpPr>
        <p:spPr>
          <a:xfrm>
            <a:off x="5317236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</a:t>
            </a:r>
            <a:endParaRPr lang="en-US" sz="830" dirty="0"/>
          </a:p>
        </p:txBody>
      </p:sp>
      <p:pic>
        <p:nvPicPr>
          <p:cNvPr id="17" name="Image 3" descr="/home/claude/asm/icons/icon_arrow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1883664"/>
            <a:ext cx="100584" cy="1280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39712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19" name="Text 13"/>
          <p:cNvSpPr/>
          <p:nvPr/>
        </p:nvSpPr>
        <p:spPr>
          <a:xfrm>
            <a:off x="6839712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</a:t>
            </a:r>
            <a:endParaRPr lang="en-US" sz="830" dirty="0"/>
          </a:p>
        </p:txBody>
      </p:sp>
      <p:pic>
        <p:nvPicPr>
          <p:cNvPr id="20" name="Image 4" descr="/home/claude/asm/icons/icon_arrow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1883664"/>
            <a:ext cx="100584" cy="12801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362188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E5F0F8"/>
          </a:solidFill>
          <a:ln/>
        </p:spPr>
      </p:sp>
      <p:sp>
        <p:nvSpPr>
          <p:cNvPr id="22" name="Text 15"/>
          <p:cNvSpPr/>
          <p:nvPr/>
        </p:nvSpPr>
        <p:spPr>
          <a:xfrm>
            <a:off x="8362188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30" dirty="0"/>
          </a:p>
        </p:txBody>
      </p:sp>
      <p:pic>
        <p:nvPicPr>
          <p:cNvPr id="23" name="Image 5" descr="/home/claude/asm/icons/icon_arrow_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36" y="1883664"/>
            <a:ext cx="100584" cy="12801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884664" y="173736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1B5C94"/>
          </a:solidFill>
          <a:ln/>
        </p:spPr>
      </p:sp>
      <p:sp>
        <p:nvSpPr>
          <p:cNvPr id="25" name="Text 17"/>
          <p:cNvSpPr/>
          <p:nvPr/>
        </p:nvSpPr>
        <p:spPr>
          <a:xfrm>
            <a:off x="9884664" y="1737360"/>
            <a:ext cx="1399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30" dirty="0"/>
          </a:p>
        </p:txBody>
      </p:sp>
      <p:sp>
        <p:nvSpPr>
          <p:cNvPr id="26" name="Shape 18"/>
          <p:cNvSpPr/>
          <p:nvPr/>
        </p:nvSpPr>
        <p:spPr>
          <a:xfrm>
            <a:off x="548640" y="2395728"/>
            <a:ext cx="5349240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77240" y="252374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777240" y="2816352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1F4E7A"/>
          </a:solidFill>
          <a:ln/>
        </p:spPr>
      </p:sp>
      <p:sp>
        <p:nvSpPr>
          <p:cNvPr id="29" name="Text 21"/>
          <p:cNvSpPr/>
          <p:nvPr/>
        </p:nvSpPr>
        <p:spPr>
          <a:xfrm>
            <a:off x="960120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566160" y="28163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|  Student  |  Alumni</a:t>
            </a:r>
            <a:endParaRPr lang="en-US" sz="870" dirty="0"/>
          </a:p>
        </p:txBody>
      </p:sp>
      <p:pic>
        <p:nvPicPr>
          <p:cNvPr id="31" name="Image 6" descr="/home/claude/asm/icons/icon_arrow_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127248" y="3291840"/>
            <a:ext cx="146304" cy="14630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777240" y="3378708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3D7BB0"/>
          </a:solidFill>
          <a:ln/>
        </p:spPr>
      </p:sp>
      <p:sp>
        <p:nvSpPr>
          <p:cNvPr id="33" name="Text 24"/>
          <p:cNvSpPr/>
          <p:nvPr/>
        </p:nvSpPr>
        <p:spPr>
          <a:xfrm>
            <a:off x="960120" y="33787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3566160" y="33787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JavaScript  •  Vite  •  Bootstrap</a:t>
            </a:r>
            <a:endParaRPr lang="en-US" sz="870" dirty="0"/>
          </a:p>
        </p:txBody>
      </p:sp>
      <p:pic>
        <p:nvPicPr>
          <p:cNvPr id="35" name="Image 7" descr="/home/claude/asm/icons/icon_arrow_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127248" y="3854196"/>
            <a:ext cx="146304" cy="14630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77240" y="3941064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1B5C94"/>
          </a:solidFill>
          <a:ln/>
        </p:spPr>
      </p:sp>
      <p:sp>
        <p:nvSpPr>
          <p:cNvPr id="37" name="Text 27"/>
          <p:cNvSpPr/>
          <p:nvPr/>
        </p:nvSpPr>
        <p:spPr>
          <a:xfrm>
            <a:off x="960120" y="39410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3566160" y="394106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Express.js</a:t>
            </a:r>
            <a:endParaRPr lang="en-US" sz="870" dirty="0"/>
          </a:p>
        </p:txBody>
      </p:sp>
      <p:pic>
        <p:nvPicPr>
          <p:cNvPr id="39" name="Image 8" descr="/home/claude/asm/icons/icon_arrow_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127248" y="4416552"/>
            <a:ext cx="146304" cy="146304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77240" y="4503420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0F3D66"/>
          </a:solidFill>
          <a:ln/>
        </p:spPr>
      </p:sp>
      <p:sp>
        <p:nvSpPr>
          <p:cNvPr id="41" name="Text 30"/>
          <p:cNvSpPr/>
          <p:nvPr/>
        </p:nvSpPr>
        <p:spPr>
          <a:xfrm>
            <a:off x="960120" y="45034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3566160" y="45034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70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70" dirty="0"/>
          </a:p>
        </p:txBody>
      </p:sp>
      <p:sp>
        <p:nvSpPr>
          <p:cNvPr id="43" name="Shape 32"/>
          <p:cNvSpPr/>
          <p:nvPr/>
        </p:nvSpPr>
        <p:spPr>
          <a:xfrm>
            <a:off x="6035040" y="2395728"/>
            <a:ext cx="560527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6263640" y="252374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6263640" y="2816352"/>
            <a:ext cx="5102352" cy="365760"/>
          </a:xfrm>
          <a:prstGeom prst="roundRect">
            <a:avLst>
              <a:gd name="adj" fmla="val 15000"/>
            </a:avLst>
          </a:prstGeom>
          <a:solidFill>
            <a:srgbClr val="E5F0F8"/>
          </a:solidFill>
          <a:ln/>
        </p:spPr>
      </p:sp>
      <p:sp>
        <p:nvSpPr>
          <p:cNvPr id="46" name="Text 35"/>
          <p:cNvSpPr/>
          <p:nvPr/>
        </p:nvSpPr>
        <p:spPr>
          <a:xfrm>
            <a:off x="6263640" y="2816352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Login  →  Role Identification</a:t>
            </a:r>
            <a:endParaRPr lang="en-US" sz="1000" dirty="0"/>
          </a:p>
        </p:txBody>
      </p:sp>
      <p:pic>
        <p:nvPicPr>
          <p:cNvPr id="47" name="Image 9" descr="/home/claude/asm/icons/icon_arrow_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66760" y="3218688"/>
            <a:ext cx="137160" cy="13716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263640" y="3401568"/>
            <a:ext cx="2542032" cy="777240"/>
          </a:xfrm>
          <a:prstGeom prst="roundRect">
            <a:avLst>
              <a:gd name="adj" fmla="val 7059"/>
            </a:avLst>
          </a:prstGeom>
          <a:solidFill>
            <a:srgbClr val="E5F0F8"/>
          </a:solidFill>
          <a:ln/>
        </p:spPr>
      </p:sp>
      <p:sp>
        <p:nvSpPr>
          <p:cNvPr id="49" name="Text 37"/>
          <p:cNvSpPr/>
          <p:nvPr/>
        </p:nvSpPr>
        <p:spPr>
          <a:xfrm>
            <a:off x="6382512" y="34655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0F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FLOW</a:t>
            </a:r>
            <a:endParaRPr lang="en-US" sz="830" dirty="0"/>
          </a:p>
        </p:txBody>
      </p:sp>
      <p:sp>
        <p:nvSpPr>
          <p:cNvPr id="50" name="Text 38"/>
          <p:cNvSpPr/>
          <p:nvPr/>
        </p:nvSpPr>
        <p:spPr>
          <a:xfrm>
            <a:off x="6382512" y="3657600"/>
            <a:ext cx="2377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Alumni → View Profile → Send Request</a:t>
            </a:r>
            <a:endParaRPr lang="en-US" sz="870" dirty="0"/>
          </a:p>
        </p:txBody>
      </p:sp>
      <p:sp>
        <p:nvSpPr>
          <p:cNvPr id="51" name="Shape 39"/>
          <p:cNvSpPr/>
          <p:nvPr/>
        </p:nvSpPr>
        <p:spPr>
          <a:xfrm>
            <a:off x="8915400" y="3401568"/>
            <a:ext cx="2450592" cy="777240"/>
          </a:xfrm>
          <a:prstGeom prst="roundRect">
            <a:avLst>
              <a:gd name="adj" fmla="val 7059"/>
            </a:avLst>
          </a:prstGeom>
          <a:solidFill>
            <a:srgbClr val="E5F0F8"/>
          </a:solidFill>
          <a:ln/>
        </p:spPr>
      </p:sp>
      <p:sp>
        <p:nvSpPr>
          <p:cNvPr id="52" name="Text 40"/>
          <p:cNvSpPr/>
          <p:nvPr/>
        </p:nvSpPr>
        <p:spPr>
          <a:xfrm>
            <a:off x="9034272" y="34655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spc="50" kern="0" dirty="0">
                <a:solidFill>
                  <a:srgbClr val="0F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FLOW</a:t>
            </a:r>
            <a:endParaRPr lang="en-US" sz="830" dirty="0"/>
          </a:p>
        </p:txBody>
      </p:sp>
      <p:sp>
        <p:nvSpPr>
          <p:cNvPr id="53" name="Text 41"/>
          <p:cNvSpPr/>
          <p:nvPr/>
        </p:nvSpPr>
        <p:spPr>
          <a:xfrm>
            <a:off x="9034272" y="3657600"/>
            <a:ext cx="22860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Request → Accept / Reject</a:t>
            </a:r>
            <a:endParaRPr lang="en-US" sz="870" dirty="0"/>
          </a:p>
        </p:txBody>
      </p:sp>
      <p:sp>
        <p:nvSpPr>
          <p:cNvPr id="54" name="Text 42"/>
          <p:cNvSpPr/>
          <p:nvPr/>
        </p:nvSpPr>
        <p:spPr>
          <a:xfrm>
            <a:off x="6263640" y="41970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accepted</a:t>
            </a:r>
            <a:endParaRPr lang="en-US" sz="850" dirty="0"/>
          </a:p>
        </p:txBody>
      </p:sp>
      <p:pic>
        <p:nvPicPr>
          <p:cNvPr id="55" name="Image 10" descr="/home/claude/asm/icons/icon_arrow_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366760" y="4197096"/>
            <a:ext cx="128016" cy="128016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6263640" y="4425696"/>
            <a:ext cx="5102352" cy="512064"/>
          </a:xfrm>
          <a:prstGeom prst="roundRect">
            <a:avLst>
              <a:gd name="adj" fmla="val 12500"/>
            </a:avLst>
          </a:prstGeom>
          <a:solidFill>
            <a:srgbClr val="1B5C94"/>
          </a:solidFill>
          <a:ln/>
        </p:spPr>
      </p:sp>
      <p:sp>
        <p:nvSpPr>
          <p:cNvPr id="57" name="Text 44"/>
          <p:cNvSpPr/>
          <p:nvPr/>
        </p:nvSpPr>
        <p:spPr>
          <a:xfrm>
            <a:off x="6263640" y="442569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Relationship  →  Chatbox + Resource Sharing</a:t>
            </a:r>
            <a:endParaRPr lang="en-US" sz="1050" dirty="0"/>
          </a:p>
        </p:txBody>
      </p:sp>
      <p:sp>
        <p:nvSpPr>
          <p:cNvPr id="58" name="Shape 45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777240" y="542239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 ALGORITHM</a:t>
            </a:r>
            <a:endParaRPr lang="en-US" sz="1050" dirty="0"/>
          </a:p>
        </p:txBody>
      </p:sp>
      <p:sp>
        <p:nvSpPr>
          <p:cNvPr id="60" name="Shape 47"/>
          <p:cNvSpPr/>
          <p:nvPr/>
        </p:nvSpPr>
        <p:spPr>
          <a:xfrm>
            <a:off x="777240" y="5724144"/>
            <a:ext cx="237744" cy="23774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61" name="Text 48"/>
          <p:cNvSpPr/>
          <p:nvPr/>
        </p:nvSpPr>
        <p:spPr>
          <a:xfrm>
            <a:off x="777240" y="5724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Text 49"/>
          <p:cNvSpPr/>
          <p:nvPr/>
        </p:nvSpPr>
        <p:spPr>
          <a:xfrm>
            <a:off x="777240" y="59984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an alumni profile &amp; submits request</a:t>
            </a:r>
            <a:endParaRPr lang="en-US" sz="870" dirty="0"/>
          </a:p>
        </p:txBody>
      </p:sp>
      <p:pic>
        <p:nvPicPr>
          <p:cNvPr id="63" name="Image 11" descr="/home/claude/asm/icons/icon_arrow_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1216" y="5788152"/>
            <a:ext cx="118872" cy="118872"/>
          </a:xfrm>
          <a:prstGeom prst="rect">
            <a:avLst/>
          </a:prstGeom>
        </p:spPr>
      </p:pic>
      <p:sp>
        <p:nvSpPr>
          <p:cNvPr id="64" name="Shape 50"/>
          <p:cNvSpPr/>
          <p:nvPr/>
        </p:nvSpPr>
        <p:spPr>
          <a:xfrm>
            <a:off x="2953512" y="5724144"/>
            <a:ext cx="237744" cy="23774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65" name="Text 51"/>
          <p:cNvSpPr/>
          <p:nvPr/>
        </p:nvSpPr>
        <p:spPr>
          <a:xfrm>
            <a:off x="2953512" y="5724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Text 52"/>
          <p:cNvSpPr/>
          <p:nvPr/>
        </p:nvSpPr>
        <p:spPr>
          <a:xfrm>
            <a:off x="2953512" y="59984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stores the request with “Pending” status</a:t>
            </a:r>
            <a:endParaRPr lang="en-US" sz="870" dirty="0"/>
          </a:p>
        </p:txBody>
      </p:sp>
      <p:pic>
        <p:nvPicPr>
          <p:cNvPr id="67" name="Image 12" descr="/home/claude/asm/icons/icon_arrow_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7488" y="5788152"/>
            <a:ext cx="118872" cy="118872"/>
          </a:xfrm>
          <a:prstGeom prst="rect">
            <a:avLst/>
          </a:prstGeom>
        </p:spPr>
      </p:pic>
      <p:sp>
        <p:nvSpPr>
          <p:cNvPr id="68" name="Shape 53"/>
          <p:cNvSpPr/>
          <p:nvPr/>
        </p:nvSpPr>
        <p:spPr>
          <a:xfrm>
            <a:off x="5129784" y="5724144"/>
            <a:ext cx="237744" cy="23774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69" name="Text 54"/>
          <p:cNvSpPr/>
          <p:nvPr/>
        </p:nvSpPr>
        <p:spPr>
          <a:xfrm>
            <a:off x="5129784" y="5724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Text 55"/>
          <p:cNvSpPr/>
          <p:nvPr/>
        </p:nvSpPr>
        <p:spPr>
          <a:xfrm>
            <a:off x="5129784" y="59984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views the request and accepts / rejects it</a:t>
            </a:r>
            <a:endParaRPr lang="en-US" sz="870" dirty="0"/>
          </a:p>
        </p:txBody>
      </p:sp>
      <p:pic>
        <p:nvPicPr>
          <p:cNvPr id="71" name="Image 13" descr="/home/claude/asm/icons/icon_arrow_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3760" y="5788152"/>
            <a:ext cx="118872" cy="118872"/>
          </a:xfrm>
          <a:prstGeom prst="rect">
            <a:avLst/>
          </a:prstGeom>
        </p:spPr>
      </p:pic>
      <p:sp>
        <p:nvSpPr>
          <p:cNvPr id="72" name="Shape 56"/>
          <p:cNvSpPr/>
          <p:nvPr/>
        </p:nvSpPr>
        <p:spPr>
          <a:xfrm>
            <a:off x="7306056" y="5724144"/>
            <a:ext cx="237744" cy="23774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73" name="Text 57"/>
          <p:cNvSpPr/>
          <p:nvPr/>
        </p:nvSpPr>
        <p:spPr>
          <a:xfrm>
            <a:off x="7306056" y="5724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4" name="Text 58"/>
          <p:cNvSpPr/>
          <p:nvPr/>
        </p:nvSpPr>
        <p:spPr>
          <a:xfrm>
            <a:off x="7306056" y="59984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accepted, the mentorship relationship is established</a:t>
            </a:r>
            <a:endParaRPr lang="en-US" sz="870" dirty="0"/>
          </a:p>
        </p:txBody>
      </p:sp>
      <p:pic>
        <p:nvPicPr>
          <p:cNvPr id="75" name="Image 14" descr="/home/claude/asm/icons/icon_arrow_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00032" y="5788152"/>
            <a:ext cx="118872" cy="118872"/>
          </a:xfrm>
          <a:prstGeom prst="rect">
            <a:avLst/>
          </a:prstGeom>
        </p:spPr>
      </p:pic>
      <p:sp>
        <p:nvSpPr>
          <p:cNvPr id="76" name="Shape 59"/>
          <p:cNvSpPr/>
          <p:nvPr/>
        </p:nvSpPr>
        <p:spPr>
          <a:xfrm>
            <a:off x="9482328" y="5724144"/>
            <a:ext cx="237744" cy="23774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77" name="Text 60"/>
          <p:cNvSpPr/>
          <p:nvPr/>
        </p:nvSpPr>
        <p:spPr>
          <a:xfrm>
            <a:off x="9482328" y="5724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8" name="Text 61"/>
          <p:cNvSpPr/>
          <p:nvPr/>
        </p:nvSpPr>
        <p:spPr>
          <a:xfrm>
            <a:off x="9482328" y="599846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alumni communicate via chatbox and share resources</a:t>
            </a:r>
            <a:endParaRPr lang="en-US" sz="870" dirty="0"/>
          </a:p>
        </p:txBody>
      </p:sp>
      <p:sp>
        <p:nvSpPr>
          <p:cNvPr id="79" name="Text 6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9  —  Methodology / System Design / Algorithms</a:t>
            </a:r>
            <a:endParaRPr lang="en-US" sz="900" dirty="0"/>
          </a:p>
        </p:txBody>
      </p:sp>
      <p:sp>
        <p:nvSpPr>
          <p:cNvPr id="80" name="Text 63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Frameworks &amp; Programming Languages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7B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892808"/>
            <a:ext cx="2521458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02536"/>
            <a:ext cx="365760" cy="365760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9" name="Image 0" descr="/home/claude/asm/icons/icon_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939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256" y="2377440"/>
            <a:ext cx="2265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05256" y="2578608"/>
            <a:ext cx="2265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user interface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481578" y="1892808"/>
            <a:ext cx="2521458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609594" y="2002536"/>
            <a:ext cx="365760" cy="365760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14" name="Image 1" descr="/home/claude/asm/icons/icon_cod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034" y="209397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09594" y="2377440"/>
            <a:ext cx="2265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609594" y="2578608"/>
            <a:ext cx="2265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logic &amp; functionality</a:t>
            </a:r>
            <a:endParaRPr lang="en-US" sz="760" dirty="0"/>
          </a:p>
        </p:txBody>
      </p:sp>
      <p:sp>
        <p:nvSpPr>
          <p:cNvPr id="17" name="Shape 13"/>
          <p:cNvSpPr/>
          <p:nvPr/>
        </p:nvSpPr>
        <p:spPr>
          <a:xfrm>
            <a:off x="6185916" y="1892808"/>
            <a:ext cx="2521458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313932" y="2002536"/>
            <a:ext cx="365760" cy="365760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19" name="Image 2" descr="/home/claude/asm/icons/icon_moni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2093976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3932" y="2377440"/>
            <a:ext cx="2265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13932" y="2578608"/>
            <a:ext cx="2265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build environment</a:t>
            </a:r>
            <a:endParaRPr lang="en-US" sz="760" dirty="0"/>
          </a:p>
        </p:txBody>
      </p:sp>
      <p:sp>
        <p:nvSpPr>
          <p:cNvPr id="22" name="Shape 17"/>
          <p:cNvSpPr/>
          <p:nvPr/>
        </p:nvSpPr>
        <p:spPr>
          <a:xfrm>
            <a:off x="8890254" y="1892808"/>
            <a:ext cx="2521458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018270" y="2002536"/>
            <a:ext cx="365760" cy="365760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24" name="Image 3" descr="/home/claude/asm/icons/icon_lay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0" y="209397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18270" y="2377440"/>
            <a:ext cx="226542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018270" y="2578608"/>
            <a:ext cx="22654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consistent UI</a:t>
            </a:r>
            <a:endParaRPr lang="en-US" sz="760" dirty="0"/>
          </a:p>
        </p:txBody>
      </p:sp>
      <p:pic>
        <p:nvPicPr>
          <p:cNvPr id="27" name="Image 4" descr="/home/claude/asm/icons/icon_arrow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852160" y="2898648"/>
            <a:ext cx="146304" cy="146304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48640" y="3008376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7240" y="314553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B5C94"/>
          </a:solidFill>
          <a:ln/>
        </p:spPr>
      </p:sp>
      <p:sp>
        <p:nvSpPr>
          <p:cNvPr id="30" name="Text 23"/>
          <p:cNvSpPr/>
          <p:nvPr/>
        </p:nvSpPr>
        <p:spPr>
          <a:xfrm>
            <a:off x="777240" y="31455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77240" y="3529584"/>
            <a:ext cx="5225796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32" name="Shape 25"/>
          <p:cNvSpPr/>
          <p:nvPr/>
        </p:nvSpPr>
        <p:spPr>
          <a:xfrm>
            <a:off x="905256" y="3639312"/>
            <a:ext cx="365760" cy="365760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33" name="Image 5" descr="/home/claude/asm/icons/icon_serve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3730752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" y="4014216"/>
            <a:ext cx="49697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905256" y="4215384"/>
            <a:ext cx="4969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JavaScript runtime</a:t>
            </a:r>
            <a:endParaRPr lang="en-US" sz="760" dirty="0"/>
          </a:p>
        </p:txBody>
      </p:sp>
      <p:sp>
        <p:nvSpPr>
          <p:cNvPr id="36" name="Shape 28"/>
          <p:cNvSpPr/>
          <p:nvPr/>
        </p:nvSpPr>
        <p:spPr>
          <a:xfrm>
            <a:off x="6185916" y="3529584"/>
            <a:ext cx="5225796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37" name="Shape 29"/>
          <p:cNvSpPr/>
          <p:nvPr/>
        </p:nvSpPr>
        <p:spPr>
          <a:xfrm>
            <a:off x="6313932" y="3639312"/>
            <a:ext cx="365760" cy="365760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38" name="Image 6" descr="/home/claude/asm/icons/icon_server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372" y="3730752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13932" y="4014216"/>
            <a:ext cx="49697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6313932" y="4215384"/>
            <a:ext cx="4969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APIs &amp; app logic</a:t>
            </a:r>
            <a:endParaRPr lang="en-US" sz="760" dirty="0"/>
          </a:p>
        </p:txBody>
      </p:sp>
      <p:pic>
        <p:nvPicPr>
          <p:cNvPr id="41" name="Image 7" descr="/home/claude/asm/icons/icon_arrow_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852160" y="4535424"/>
            <a:ext cx="146304" cy="146304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48640" y="4645152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777240" y="47823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F3D66"/>
          </a:solidFill>
          <a:ln/>
        </p:spPr>
      </p:sp>
      <p:sp>
        <p:nvSpPr>
          <p:cNvPr id="44" name="Text 34"/>
          <p:cNvSpPr/>
          <p:nvPr/>
        </p:nvSpPr>
        <p:spPr>
          <a:xfrm>
            <a:off x="777240" y="47823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777240" y="5166360"/>
            <a:ext cx="10634472" cy="868680"/>
          </a:xfrm>
          <a:prstGeom prst="roundRect">
            <a:avLst>
              <a:gd name="adj" fmla="val 7368"/>
            </a:avLst>
          </a:prstGeom>
          <a:solidFill>
            <a:srgbClr val="E5F0F8"/>
          </a:solidFill>
          <a:ln/>
        </p:spPr>
      </p:sp>
      <p:sp>
        <p:nvSpPr>
          <p:cNvPr id="46" name="Shape 36"/>
          <p:cNvSpPr/>
          <p:nvPr/>
        </p:nvSpPr>
        <p:spPr>
          <a:xfrm>
            <a:off x="905256" y="5276088"/>
            <a:ext cx="365760" cy="365760"/>
          </a:xfrm>
          <a:prstGeom prst="ellipse">
            <a:avLst/>
          </a:prstGeom>
          <a:solidFill>
            <a:srgbClr val="0F3D66"/>
          </a:solidFill>
          <a:ln/>
        </p:spPr>
      </p:sp>
      <p:pic>
        <p:nvPicPr>
          <p:cNvPr id="47" name="Image 8" descr="/home/claude/asm/icons/icon_db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" y="5367528"/>
            <a:ext cx="182880" cy="1828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05256" y="5650992"/>
            <a:ext cx="10378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905256" y="5852160"/>
            <a:ext cx="10378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5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profiles, requests, relationships and application data</a:t>
            </a:r>
            <a:endParaRPr lang="en-US" sz="760" dirty="0"/>
          </a:p>
        </p:txBody>
      </p:sp>
      <p:sp>
        <p:nvSpPr>
          <p:cNvPr id="50" name="Text 3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9  —  Tools, Frameworks &amp; Programming Languages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F4E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17904"/>
            <a:ext cx="566928" cy="566928"/>
          </a:xfrm>
          <a:prstGeom prst="ellipse">
            <a:avLst/>
          </a:prstGeom>
          <a:solidFill>
            <a:srgbClr val="2E6690"/>
          </a:solidFill>
          <a:ln/>
        </p:spPr>
      </p:sp>
      <p:pic>
        <p:nvPicPr>
          <p:cNvPr id="6" name="Image 0" descr="/home/claude/asm/icons/icon_d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550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81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public dataset is required.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application-generated / institutional data, entered through the application by authorized users.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971800"/>
            <a:ext cx="512064" cy="512064"/>
          </a:xfrm>
          <a:prstGeom prst="ellipse">
            <a:avLst/>
          </a:prstGeom>
          <a:solidFill>
            <a:srgbClr val="3D7BB0"/>
          </a:solidFill>
          <a:ln/>
        </p:spPr>
      </p:sp>
      <p:pic>
        <p:nvPicPr>
          <p:cNvPr id="12" name="Image 1" descr="/home/claude/asm/icons/icon_stud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0998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" y="3584448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68096" y="4032504"/>
            <a:ext cx="54864" cy="5486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details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768096" y="4297680"/>
            <a:ext cx="54864" cy="5486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information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768096" y="4562856"/>
            <a:ext cx="54864" cy="5486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interests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768096" y="4828032"/>
            <a:ext cx="54864" cy="54864"/>
          </a:xfrm>
          <a:prstGeom prst="ellipse">
            <a:avLst/>
          </a:prstGeom>
          <a:solidFill>
            <a:srgbClr val="3D7BB0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" y="4727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preferences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3374136" y="2788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75304" y="2971800"/>
            <a:ext cx="512064" cy="512064"/>
          </a:xfrm>
          <a:prstGeom prst="ellipse">
            <a:avLst/>
          </a:prstGeom>
          <a:solidFill>
            <a:srgbClr val="1B5C94"/>
          </a:solidFill>
          <a:ln/>
        </p:spPr>
      </p:sp>
      <p:pic>
        <p:nvPicPr>
          <p:cNvPr id="24" name="Image 2" descr="/home/claude/asm/icons/icon_alum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09981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75304" y="3584448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DATA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593592" y="4032504"/>
            <a:ext cx="54864" cy="54864"/>
          </a:xfrm>
          <a:prstGeom prst="ellipse">
            <a:avLst/>
          </a:prstGeom>
          <a:solidFill>
            <a:srgbClr val="1B5C94"/>
          </a:solidFill>
          <a:ln/>
        </p:spPr>
      </p:sp>
      <p:sp>
        <p:nvSpPr>
          <p:cNvPr id="27" name="Text 22"/>
          <p:cNvSpPr/>
          <p:nvPr/>
        </p:nvSpPr>
        <p:spPr>
          <a:xfrm>
            <a:off x="3739896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details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3593592" y="4297680"/>
            <a:ext cx="54864" cy="54864"/>
          </a:xfrm>
          <a:prstGeom prst="ellipse">
            <a:avLst/>
          </a:prstGeom>
          <a:solidFill>
            <a:srgbClr val="1B5C94"/>
          </a:solidFill>
          <a:ln/>
        </p:spPr>
      </p:sp>
      <p:sp>
        <p:nvSpPr>
          <p:cNvPr id="29" name="Text 24"/>
          <p:cNvSpPr/>
          <p:nvPr/>
        </p:nvSpPr>
        <p:spPr>
          <a:xfrm>
            <a:off x="3739896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information</a:t>
            </a:r>
            <a:endParaRPr lang="en-US" sz="930" dirty="0"/>
          </a:p>
        </p:txBody>
      </p:sp>
      <p:sp>
        <p:nvSpPr>
          <p:cNvPr id="30" name="Shape 25"/>
          <p:cNvSpPr/>
          <p:nvPr/>
        </p:nvSpPr>
        <p:spPr>
          <a:xfrm>
            <a:off x="3593592" y="4562856"/>
            <a:ext cx="54864" cy="54864"/>
          </a:xfrm>
          <a:prstGeom prst="ellipse">
            <a:avLst/>
          </a:prstGeom>
          <a:solidFill>
            <a:srgbClr val="1B5C94"/>
          </a:solidFill>
          <a:ln/>
        </p:spPr>
      </p:sp>
      <p:sp>
        <p:nvSpPr>
          <p:cNvPr id="31" name="Text 26"/>
          <p:cNvSpPr/>
          <p:nvPr/>
        </p:nvSpPr>
        <p:spPr>
          <a:xfrm>
            <a:off x="3739896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information</a:t>
            </a:r>
            <a:endParaRPr lang="en-US" sz="930" dirty="0"/>
          </a:p>
        </p:txBody>
      </p:sp>
      <p:sp>
        <p:nvSpPr>
          <p:cNvPr id="32" name="Shape 27"/>
          <p:cNvSpPr/>
          <p:nvPr/>
        </p:nvSpPr>
        <p:spPr>
          <a:xfrm>
            <a:off x="3593592" y="4828032"/>
            <a:ext cx="54864" cy="54864"/>
          </a:xfrm>
          <a:prstGeom prst="ellipse">
            <a:avLst/>
          </a:prstGeom>
          <a:solidFill>
            <a:srgbClr val="1B5C94"/>
          </a:solidFill>
          <a:ln/>
        </p:spPr>
      </p:sp>
      <p:sp>
        <p:nvSpPr>
          <p:cNvPr id="33" name="Text 28"/>
          <p:cNvSpPr/>
          <p:nvPr/>
        </p:nvSpPr>
        <p:spPr>
          <a:xfrm>
            <a:off x="3739896" y="4727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areas of expertise</a:t>
            </a:r>
            <a:endParaRPr lang="en-US" sz="930" dirty="0"/>
          </a:p>
        </p:txBody>
      </p:sp>
      <p:sp>
        <p:nvSpPr>
          <p:cNvPr id="34" name="Shape 29"/>
          <p:cNvSpPr/>
          <p:nvPr/>
        </p:nvSpPr>
        <p:spPr>
          <a:xfrm>
            <a:off x="6199632" y="2788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00800" y="2971800"/>
            <a:ext cx="512064" cy="512064"/>
          </a:xfrm>
          <a:prstGeom prst="ellipse">
            <a:avLst/>
          </a:prstGeom>
          <a:solidFill>
            <a:srgbClr val="0F3D66"/>
          </a:solidFill>
          <a:ln/>
        </p:spPr>
      </p:sp>
      <p:pic>
        <p:nvPicPr>
          <p:cNvPr id="36" name="Image 3" descr="/home/claude/asm/icons/icon_chat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090672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00800" y="3584448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DATA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419088" y="4032504"/>
            <a:ext cx="54864" cy="54864"/>
          </a:xfrm>
          <a:prstGeom prst="ellipse">
            <a:avLst/>
          </a:prstGeom>
          <a:solidFill>
            <a:srgbClr val="0F3D66"/>
          </a:solidFill>
          <a:ln/>
        </p:spPr>
      </p:sp>
      <p:sp>
        <p:nvSpPr>
          <p:cNvPr id="39" name="Text 33"/>
          <p:cNvSpPr/>
          <p:nvPr/>
        </p:nvSpPr>
        <p:spPr>
          <a:xfrm>
            <a:off x="6565392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requests</a:t>
            </a:r>
            <a:endParaRPr lang="en-US" sz="930" dirty="0"/>
          </a:p>
        </p:txBody>
      </p:sp>
      <p:sp>
        <p:nvSpPr>
          <p:cNvPr id="40" name="Shape 34"/>
          <p:cNvSpPr/>
          <p:nvPr/>
        </p:nvSpPr>
        <p:spPr>
          <a:xfrm>
            <a:off x="6419088" y="4297680"/>
            <a:ext cx="54864" cy="54864"/>
          </a:xfrm>
          <a:prstGeom prst="ellipse">
            <a:avLst/>
          </a:prstGeom>
          <a:solidFill>
            <a:srgbClr val="0F3D66"/>
          </a:solidFill>
          <a:ln/>
        </p:spPr>
      </p:sp>
      <p:sp>
        <p:nvSpPr>
          <p:cNvPr id="41" name="Text 35"/>
          <p:cNvSpPr/>
          <p:nvPr/>
        </p:nvSpPr>
        <p:spPr>
          <a:xfrm>
            <a:off x="6565392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status</a:t>
            </a:r>
            <a:endParaRPr lang="en-US" sz="930" dirty="0"/>
          </a:p>
        </p:txBody>
      </p:sp>
      <p:sp>
        <p:nvSpPr>
          <p:cNvPr id="42" name="Shape 36"/>
          <p:cNvSpPr/>
          <p:nvPr/>
        </p:nvSpPr>
        <p:spPr>
          <a:xfrm>
            <a:off x="6419088" y="4562856"/>
            <a:ext cx="54864" cy="54864"/>
          </a:xfrm>
          <a:prstGeom prst="ellipse">
            <a:avLst/>
          </a:prstGeom>
          <a:solidFill>
            <a:srgbClr val="0F3D66"/>
          </a:solidFill>
          <a:ln/>
        </p:spPr>
      </p:sp>
      <p:sp>
        <p:nvSpPr>
          <p:cNvPr id="43" name="Text 37"/>
          <p:cNvSpPr/>
          <p:nvPr/>
        </p:nvSpPr>
        <p:spPr>
          <a:xfrm>
            <a:off x="6565392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Mentor–mentee relationships</a:t>
            </a:r>
            <a:endParaRPr lang="en-US" sz="930" dirty="0"/>
          </a:p>
        </p:txBody>
      </p:sp>
      <p:sp>
        <p:nvSpPr>
          <p:cNvPr id="44" name="Shape 38"/>
          <p:cNvSpPr/>
          <p:nvPr/>
        </p:nvSpPr>
        <p:spPr>
          <a:xfrm>
            <a:off x="6419088" y="4828032"/>
            <a:ext cx="54864" cy="54864"/>
          </a:xfrm>
          <a:prstGeom prst="ellipse">
            <a:avLst/>
          </a:prstGeom>
          <a:solidFill>
            <a:srgbClr val="0F3D66"/>
          </a:solidFill>
          <a:ln/>
        </p:spPr>
      </p:sp>
      <p:sp>
        <p:nvSpPr>
          <p:cNvPr id="45" name="Text 39"/>
          <p:cNvSpPr/>
          <p:nvPr/>
        </p:nvSpPr>
        <p:spPr>
          <a:xfrm>
            <a:off x="6565392" y="4727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930" dirty="0"/>
          </a:p>
        </p:txBody>
      </p:sp>
      <p:sp>
        <p:nvSpPr>
          <p:cNvPr id="46" name="Shape 40"/>
          <p:cNvSpPr/>
          <p:nvPr/>
        </p:nvSpPr>
        <p:spPr>
          <a:xfrm>
            <a:off x="9025128" y="278892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226296" y="2971800"/>
            <a:ext cx="512064" cy="512064"/>
          </a:xfrm>
          <a:prstGeom prst="ellipse">
            <a:avLst/>
          </a:prstGeom>
          <a:solidFill>
            <a:srgbClr val="1F4E7A"/>
          </a:solidFill>
          <a:ln/>
        </p:spPr>
      </p:sp>
      <p:pic>
        <p:nvPicPr>
          <p:cNvPr id="48" name="Image 4" descr="/home/claude/asm/icons/icon_db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3090672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226296" y="3584448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DATA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9244584" y="4032504"/>
            <a:ext cx="54864" cy="54864"/>
          </a:xfrm>
          <a:prstGeom prst="ellipse">
            <a:avLst/>
          </a:prstGeom>
          <a:solidFill>
            <a:srgbClr val="1F4E7A"/>
          </a:solidFill>
          <a:ln/>
        </p:spPr>
      </p:sp>
      <p:sp>
        <p:nvSpPr>
          <p:cNvPr id="51" name="Text 44"/>
          <p:cNvSpPr/>
          <p:nvPr/>
        </p:nvSpPr>
        <p:spPr>
          <a:xfrm>
            <a:off x="939088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student records</a:t>
            </a:r>
            <a:endParaRPr lang="en-US" sz="930" dirty="0"/>
          </a:p>
        </p:txBody>
      </p:sp>
      <p:sp>
        <p:nvSpPr>
          <p:cNvPr id="52" name="Shape 45"/>
          <p:cNvSpPr/>
          <p:nvPr/>
        </p:nvSpPr>
        <p:spPr>
          <a:xfrm>
            <a:off x="9244584" y="4297680"/>
            <a:ext cx="54864" cy="54864"/>
          </a:xfrm>
          <a:prstGeom prst="ellipse">
            <a:avLst/>
          </a:prstGeom>
          <a:solidFill>
            <a:srgbClr val="1F4E7A"/>
          </a:solidFill>
          <a:ln/>
        </p:spPr>
      </p:sp>
      <p:sp>
        <p:nvSpPr>
          <p:cNvPr id="53" name="Text 46"/>
          <p:cNvSpPr/>
          <p:nvPr/>
        </p:nvSpPr>
        <p:spPr>
          <a:xfrm>
            <a:off x="9390888" y="41970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alumni records</a:t>
            </a:r>
            <a:endParaRPr lang="en-US" sz="930" dirty="0"/>
          </a:p>
        </p:txBody>
      </p:sp>
      <p:sp>
        <p:nvSpPr>
          <p:cNvPr id="54" name="Shape 47"/>
          <p:cNvSpPr/>
          <p:nvPr/>
        </p:nvSpPr>
        <p:spPr>
          <a:xfrm>
            <a:off x="9244584" y="4562856"/>
            <a:ext cx="54864" cy="54864"/>
          </a:xfrm>
          <a:prstGeom prst="ellipse">
            <a:avLst/>
          </a:prstGeom>
          <a:solidFill>
            <a:srgbClr val="1F4E7A"/>
          </a:solidFill>
          <a:ln/>
        </p:spPr>
      </p:sp>
      <p:sp>
        <p:nvSpPr>
          <p:cNvPr id="55" name="Text 48"/>
          <p:cNvSpPr/>
          <p:nvPr/>
        </p:nvSpPr>
        <p:spPr>
          <a:xfrm>
            <a:off x="9390888" y="44622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for development</a:t>
            </a:r>
            <a:endParaRPr lang="en-US" sz="930" dirty="0"/>
          </a:p>
        </p:txBody>
      </p:sp>
      <p:sp>
        <p:nvSpPr>
          <p:cNvPr id="56" name="Shape 49"/>
          <p:cNvSpPr/>
          <p:nvPr/>
        </p:nvSpPr>
        <p:spPr>
          <a:xfrm>
            <a:off x="9244584" y="4828032"/>
            <a:ext cx="54864" cy="54864"/>
          </a:xfrm>
          <a:prstGeom prst="ellipse">
            <a:avLst/>
          </a:prstGeom>
          <a:solidFill>
            <a:srgbClr val="1F4E7A"/>
          </a:solidFill>
          <a:ln/>
        </p:spPr>
      </p:sp>
      <p:sp>
        <p:nvSpPr>
          <p:cNvPr id="57" name="Text 50"/>
          <p:cNvSpPr/>
          <p:nvPr/>
        </p:nvSpPr>
        <p:spPr>
          <a:xfrm>
            <a:off x="9390888" y="4727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testing</a:t>
            </a:r>
            <a:endParaRPr lang="en-US" sz="930" dirty="0"/>
          </a:p>
        </p:txBody>
      </p:sp>
      <p:sp>
        <p:nvSpPr>
          <p:cNvPr id="58" name="Shape 51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5F0F8"/>
          </a:solidFill>
          <a:ln/>
        </p:spPr>
      </p:sp>
      <p:sp>
        <p:nvSpPr>
          <p:cNvPr id="59" name="Text 52"/>
          <p:cNvSpPr/>
          <p:nvPr/>
        </p:nvSpPr>
        <p:spPr>
          <a:xfrm>
            <a:off x="777240" y="5248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THE SYSTEM</a:t>
            </a:r>
            <a:endParaRPr lang="en-US" sz="1050" dirty="0"/>
          </a:p>
        </p:txBody>
      </p:sp>
      <p:sp>
        <p:nvSpPr>
          <p:cNvPr id="60" name="Text 53"/>
          <p:cNvSpPr/>
          <p:nvPr/>
        </p:nvSpPr>
        <p:spPr>
          <a:xfrm>
            <a:off x="777240" y="550468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directly supports the application's core functions — alumni discovery, profile viewing, mentorship requests, mentor–mentee connections, communication and resource sharing.</a:t>
            </a:r>
            <a:endParaRPr lang="en-US" sz="1150" dirty="0"/>
          </a:p>
        </p:txBody>
      </p:sp>
      <p:sp>
        <p:nvSpPr>
          <p:cNvPr id="61" name="Text 5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9  —  Datasets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Papers &amp;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6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17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  (IEEE FORMAT)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3D7B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47088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16736" y="1819656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Tinoco-Giraldo, E. M. Torrecilla Sánchez, and F. J. García-Peñalvo, “E-Mentoring in Higher Education: A Structured Literature Review and Implications for Future Research,” Sustainability, vol. 12, no. 11, p. 4344, 2020.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77240" y="2441448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3D7BB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41448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16736" y="2414016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Alhadlaq, A. Kharrufa, and P. Olivier, “Exploring e-mentoring: co-designing &amp; un-platforming,” Behaviour &amp; Information Technology, vol. 38, no. 11, pp. 1122–1142, 2019.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77240" y="3035808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3D7BB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35808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16736" y="3008376"/>
            <a:ext cx="10104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I. Ahamad, A. Thabassum, S. C. Dixit, S. M. Naik, and Shreekumar T, “Rural Mentoring Application,” International Journal for Research in Applied Science &amp; Engineering Technology (IJRASET), 2022, doi: 10.22214/ijraset.2022.45529.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77240" y="3648456"/>
            <a:ext cx="10607040" cy="0"/>
          </a:xfrm>
          <a:prstGeom prst="line">
            <a:avLst/>
          </a:prstGeom>
          <a:noFill/>
          <a:ln w="12700">
            <a:solidFill>
              <a:srgbClr val="D6E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58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PLATFORMS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050792"/>
            <a:ext cx="3429000" cy="365760"/>
          </a:xfrm>
          <a:prstGeom prst="roundRect">
            <a:avLst>
              <a:gd name="adj" fmla="val 15000"/>
            </a:avLst>
          </a:prstGeom>
          <a:solidFill>
            <a:srgbClr val="E5F0F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50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Chronus — chronus.com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07408" y="4050792"/>
            <a:ext cx="3429000" cy="365760"/>
          </a:xfrm>
          <a:prstGeom prst="roundRect">
            <a:avLst>
              <a:gd name="adj" fmla="val 15000"/>
            </a:avLst>
          </a:prstGeom>
          <a:solidFill>
            <a:srgbClr val="E5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4050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PeopleGrove — peoplegrove.com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37576" y="4050792"/>
            <a:ext cx="3429000" cy="365760"/>
          </a:xfrm>
          <a:prstGeom prst="roundRect">
            <a:avLst>
              <a:gd name="adj" fmla="val 15000"/>
            </a:avLst>
          </a:prstGeom>
          <a:solidFill>
            <a:srgbClr val="E5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405079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MentorCity — mentorcity.com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01184"/>
            <a:ext cx="11091672" cy="1298448"/>
          </a:xfrm>
          <a:prstGeom prst="roundRect">
            <a:avLst>
              <a:gd name="adj" fmla="val 5634"/>
            </a:avLst>
          </a:prstGeom>
          <a:solidFill>
            <a:srgbClr val="1F4E7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47488"/>
            <a:ext cx="10469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structured alumni–student mentorship platforms already exist globally, our college currently has no dedicated platform for structured student–alumni mentorship. Alumni Student Mentorship proposes a customized, college-specific web platform enabling students to discover suitable alumni, send mentorship requests, communicate through an integrated chatbox, connect with verified alumni, and access useful mentorship resources.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9  —  Research Papers &amp; References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8095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Student Mentorship  |  MCA First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2026-08-16T12:19:29Z</dcterms:created>
  <dcterms:modified xsi:type="dcterms:W3CDTF">2026-08-16T12:19:29Z</dcterms:modified>
</cp:coreProperties>
</file>